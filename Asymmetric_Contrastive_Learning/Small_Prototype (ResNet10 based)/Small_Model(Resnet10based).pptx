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8583A-B417-4D84-BB3D-17266CD954AD}" v="9" dt="2026-06-19T09:13:19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Yadav" userId="67c98c68697bc62e" providerId="LiveId" clId="{CA6EE5F2-9CFD-4761-9198-359264E9680C}"/>
    <pc:docChg chg="custSel modSld">
      <pc:chgData name="Tushar Yadav" userId="67c98c68697bc62e" providerId="LiveId" clId="{CA6EE5F2-9CFD-4761-9198-359264E9680C}" dt="2026-06-26T10:24:08.862" v="221" actId="1076"/>
      <pc:docMkLst>
        <pc:docMk/>
      </pc:docMkLst>
      <pc:sldChg chg="modSp mod">
        <pc:chgData name="Tushar Yadav" userId="67c98c68697bc62e" providerId="LiveId" clId="{CA6EE5F2-9CFD-4761-9198-359264E9680C}" dt="2026-06-19T09:09:07.926" v="82" actId="20577"/>
        <pc:sldMkLst>
          <pc:docMk/>
          <pc:sldMk cId="1385081263" sldId="256"/>
        </pc:sldMkLst>
        <pc:spChg chg="mod">
          <ac:chgData name="Tushar Yadav" userId="67c98c68697bc62e" providerId="LiveId" clId="{CA6EE5F2-9CFD-4761-9198-359264E9680C}" dt="2026-06-19T09:09:07.926" v="82" actId="20577"/>
          <ac:spMkLst>
            <pc:docMk/>
            <pc:sldMk cId="1385081263" sldId="256"/>
            <ac:spMk id="3" creationId="{01CE3D6B-3CD3-C9F2-7A9A-E6E744AFC918}"/>
          </ac:spMkLst>
        </pc:spChg>
      </pc:sldChg>
      <pc:sldChg chg="modSp mod">
        <pc:chgData name="Tushar Yadav" userId="67c98c68697bc62e" providerId="LiveId" clId="{CA6EE5F2-9CFD-4761-9198-359264E9680C}" dt="2026-06-19T09:13:22.157" v="219" actId="20577"/>
        <pc:sldMkLst>
          <pc:docMk/>
          <pc:sldMk cId="3019615919" sldId="258"/>
        </pc:sldMkLst>
        <pc:spChg chg="mod">
          <ac:chgData name="Tushar Yadav" userId="67c98c68697bc62e" providerId="LiveId" clId="{CA6EE5F2-9CFD-4761-9198-359264E9680C}" dt="2026-06-19T09:13:22.157" v="219" actId="20577"/>
          <ac:spMkLst>
            <pc:docMk/>
            <pc:sldMk cId="3019615919" sldId="258"/>
            <ac:spMk id="3" creationId="{F6E1C3A8-D40D-68CC-C6A5-FFE533820E68}"/>
          </ac:spMkLst>
        </pc:spChg>
      </pc:sldChg>
      <pc:sldChg chg="modSp mod">
        <pc:chgData name="Tushar Yadav" userId="67c98c68697bc62e" providerId="LiveId" clId="{CA6EE5F2-9CFD-4761-9198-359264E9680C}" dt="2026-06-19T09:56:46.964" v="220" actId="14100"/>
        <pc:sldMkLst>
          <pc:docMk/>
          <pc:sldMk cId="4227768167" sldId="265"/>
        </pc:sldMkLst>
        <pc:picChg chg="mod">
          <ac:chgData name="Tushar Yadav" userId="67c98c68697bc62e" providerId="LiveId" clId="{CA6EE5F2-9CFD-4761-9198-359264E9680C}" dt="2026-06-19T09:56:46.964" v="220" actId="14100"/>
          <ac:picMkLst>
            <pc:docMk/>
            <pc:sldMk cId="4227768167" sldId="265"/>
            <ac:picMk id="5" creationId="{7BFB54EC-4E0A-659C-874F-979AF19BFFFC}"/>
          </ac:picMkLst>
        </pc:picChg>
      </pc:sldChg>
      <pc:sldChg chg="modSp mod">
        <pc:chgData name="Tushar Yadav" userId="67c98c68697bc62e" providerId="LiveId" clId="{CA6EE5F2-9CFD-4761-9198-359264E9680C}" dt="2026-06-26T10:24:08.862" v="221" actId="1076"/>
        <pc:sldMkLst>
          <pc:docMk/>
          <pc:sldMk cId="1160111376" sldId="272"/>
        </pc:sldMkLst>
        <pc:picChg chg="mod">
          <ac:chgData name="Tushar Yadav" userId="67c98c68697bc62e" providerId="LiveId" clId="{CA6EE5F2-9CFD-4761-9198-359264E9680C}" dt="2026-06-26T10:24:08.862" v="221" actId="1076"/>
          <ac:picMkLst>
            <pc:docMk/>
            <pc:sldMk cId="1160111376" sldId="272"/>
            <ac:picMk id="5" creationId="{2A3BC06C-7221-82A0-0997-95B89EBD97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C0BA-EC75-B48D-77B0-AC7B19F56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1322D-E11F-B0B9-6E6D-4B6501315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34F5-3F77-0979-E7A9-AE111DD8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9AA6C-8C4E-14C2-B508-C09730F2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B669-165A-2BBA-B51F-EA554720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7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8F32-5986-9627-A0EE-74CB5087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50D31-D859-5FA7-FDFB-30F5ACD22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D54D9-5CE4-058E-BB72-9F64C1F6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486AD-922C-B026-0F8A-5B2A7B11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1B393-9127-605D-5DCA-E8194692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6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54C9-AA0B-0DB2-CDC5-0699FC6D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BBEB6-1374-3DDD-1C68-4ECE510F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DA230-CF5F-D7AC-4CF5-E8727B7A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CDFCD-19E3-BAAE-9071-7F482AE7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C28BB-3361-87F5-D833-656472EA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46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A463-0D2A-473E-F623-A451223C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F7CF2-EAA6-1542-E45B-98022E9A8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95684-A065-5CEF-4E36-8DBD2E08D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D3C9-CABA-425C-F1B0-F44C4D85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EB74E-D6AC-AE85-585C-226C24B6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6CEDA-8B24-33C9-2021-B1A796A6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3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CE0B-C174-34A3-7265-869E7D30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8544D-7BA2-EDB9-40A1-0FEB565A4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F7867-592C-968C-35EA-D49100986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16728-990D-0BA6-4059-E1E91B94B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22B62-3A3A-9459-FD2C-FF31A88F0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EB7BF-F546-AB76-15C8-D45D965C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12F54-D190-6F3C-339B-5EA0CFD2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24C63-C71E-6B04-6215-4A1D939D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4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D17E-B172-35B7-B917-8ED8F598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D99C94-0F76-C346-C3B8-72F75FE2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B251B-2A93-E15C-8CFF-6F923FE6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AC8DC-9117-5957-53B7-17853457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6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50DF6-4356-3536-C4A9-BD174DAF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2819F-9B98-903D-E555-DD4380A1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4CB6D-F698-72F5-479C-A60E27E7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0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C14-A527-10ED-D75F-DF2EBFB6B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B068-2625-6CB2-194A-735EBFD9B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5341F-9664-89F5-23C1-29E4AC5FB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DF58-8809-DD99-6D58-3FA9B033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6F94B-5921-8022-DA09-AB52A84B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7EF9F-2999-18A3-B6D7-1BE65904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0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2FDD-B773-F268-B6A1-BD510633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05D1B-09FA-F9C9-6FEE-B4F5F5191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FEDF2-3CDC-2C8D-957A-0C5E67E8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AA644-31A9-955F-F6B9-E217EC5F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C745D-3511-09C4-E1C8-015A3A38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E1AEB-D149-4FDD-264D-C39CF578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6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9ED9-0CA3-3025-4F57-3EB645AE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EC432-2ACB-01D9-DD21-D90578A73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7C19-D7E3-D44D-1D8E-4987D99B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DA2DB-FD6A-C7E6-F748-E041D7A3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59175-9B05-CDDC-C9EE-54E519F0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2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56666-4C48-F026-0F28-9BD33F07E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7AC7-A573-3F31-3A1B-76A98A00D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1C2E2-D6AE-6FE8-0008-CFF50C42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6BF8-4C49-2A43-8151-3EA2218F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2703-C5CD-DE8D-DCE8-04EB685D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16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6C8EBC-61A8-D90B-08C5-68DC7AC1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BB5C-2389-1FEE-8121-3E45F8D0F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2792E-8645-2103-AF4A-E18024441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7DA0E-7407-4F93-8945-49DF638A5223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9791F-6FA5-E196-7081-7722F05C8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DB6DE-D099-6592-161D-6AB901659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96757-6F42-40EE-A3D9-328A397FC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19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E622-CD21-094A-7DB5-D52A443A9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Small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E3D6B-3CD3-C9F2-7A9A-E6E744AFC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Resnet 10 based implementation of asymmetric contrastive learning</a:t>
            </a:r>
          </a:p>
        </p:txBody>
      </p:sp>
    </p:spTree>
    <p:extLst>
      <p:ext uri="{BB962C8B-B14F-4D97-AF65-F5344CB8AC3E}">
        <p14:creationId xmlns:p14="http://schemas.microsoft.com/office/powerpoint/2010/main" val="138508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7B12-8B00-96AC-7D35-036D3DF6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508B-6E3E-D922-1E0C-FC4B63A4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ResNet10 adapted for 64x64 inputs.</a:t>
            </a:r>
          </a:p>
          <a:p>
            <a:pPr lvl="1"/>
            <a:r>
              <a:rPr lang="en-IN" dirty="0"/>
              <a:t>    Spatial trace for 64x64 input:</a:t>
            </a:r>
          </a:p>
          <a:p>
            <a:pPr lvl="1"/>
            <a:r>
              <a:rPr lang="en-IN" dirty="0"/>
              <a:t>        stem    : 64x64 (3x3, stride 1, no </a:t>
            </a:r>
            <a:r>
              <a:rPr lang="en-IN" dirty="0" err="1"/>
              <a:t>maxpool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        layer1  : 64x64  (64 </a:t>
            </a:r>
            <a:r>
              <a:rPr lang="en-IN" dirty="0" err="1"/>
              <a:t>ch</a:t>
            </a:r>
            <a:r>
              <a:rPr lang="en-IN" dirty="0"/>
              <a:t>,  stride 1)</a:t>
            </a:r>
          </a:p>
          <a:p>
            <a:pPr lvl="1"/>
            <a:r>
              <a:rPr lang="en-IN" dirty="0"/>
              <a:t>        layer2  : 32x32  (128 </a:t>
            </a:r>
            <a:r>
              <a:rPr lang="en-IN" dirty="0" err="1"/>
              <a:t>ch</a:t>
            </a:r>
            <a:r>
              <a:rPr lang="en-IN" dirty="0"/>
              <a:t>, stride 2)</a:t>
            </a:r>
          </a:p>
          <a:p>
            <a:pPr lvl="1"/>
            <a:r>
              <a:rPr lang="en-IN" dirty="0"/>
              <a:t>        layer3  : 16x16  (256 </a:t>
            </a:r>
            <a:r>
              <a:rPr lang="en-IN" dirty="0" err="1"/>
              <a:t>ch</a:t>
            </a:r>
            <a:r>
              <a:rPr lang="en-IN" dirty="0"/>
              <a:t>, stride 2)</a:t>
            </a:r>
          </a:p>
          <a:p>
            <a:pPr lvl="1"/>
            <a:r>
              <a:rPr lang="en-IN" dirty="0"/>
              <a:t>        layer4  : 8x8    (512 </a:t>
            </a:r>
            <a:r>
              <a:rPr lang="en-IN" dirty="0" err="1"/>
              <a:t>ch</a:t>
            </a:r>
            <a:r>
              <a:rPr lang="en-IN" dirty="0"/>
              <a:t>, stride 2)</a:t>
            </a:r>
          </a:p>
          <a:p>
            <a:pPr lvl="1"/>
            <a:r>
              <a:rPr lang="en-IN" dirty="0"/>
              <a:t>        </a:t>
            </a:r>
            <a:r>
              <a:rPr lang="en-IN" dirty="0" err="1"/>
              <a:t>avgpool</a:t>
            </a:r>
            <a:r>
              <a:rPr lang="en-IN" dirty="0"/>
              <a:t> : 1x1 (512)</a:t>
            </a:r>
          </a:p>
          <a:p>
            <a:pPr lvl="1"/>
            <a:r>
              <a:rPr lang="en-IN" dirty="0"/>
              <a:t>        </a:t>
            </a:r>
            <a:r>
              <a:rPr lang="en-IN" dirty="0" err="1"/>
              <a:t>embedding_head</a:t>
            </a:r>
            <a:r>
              <a:rPr lang="en-IN" dirty="0"/>
              <a:t>      : 512 -&gt; </a:t>
            </a:r>
            <a:r>
              <a:rPr lang="en-IN" dirty="0" err="1"/>
              <a:t>embedding_dim</a:t>
            </a:r>
            <a:endParaRPr lang="en-IN" dirty="0"/>
          </a:p>
          <a:p>
            <a:r>
              <a:rPr lang="en-IN" b="1" i="1" dirty="0"/>
              <a:t>  </a:t>
            </a:r>
            <a:r>
              <a:rPr lang="en-IN" b="1" i="1" dirty="0" err="1"/>
              <a:t>embedding_dim</a:t>
            </a:r>
            <a:r>
              <a:rPr lang="en-IN" b="1" i="1" dirty="0"/>
              <a:t> = 128</a:t>
            </a:r>
          </a:p>
        </p:txBody>
      </p:sp>
    </p:spTree>
    <p:extLst>
      <p:ext uri="{BB962C8B-B14F-4D97-AF65-F5344CB8AC3E}">
        <p14:creationId xmlns:p14="http://schemas.microsoft.com/office/powerpoint/2010/main" val="242203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A6A9-8B65-F37C-B67B-76B2D88E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1C3A8-D40D-68CC-C6A5-FFE53382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Positive (Benign)</a:t>
            </a:r>
            <a:endParaRPr lang="en-IN" dirty="0"/>
          </a:p>
          <a:p>
            <a:r>
              <a:rPr lang="en-IN" dirty="0"/>
              <a:t>Gaussian blur (3×3 kernel)</a:t>
            </a:r>
          </a:p>
          <a:p>
            <a:r>
              <a:rPr lang="en-IN" b="1" dirty="0"/>
              <a:t>(or) </a:t>
            </a:r>
            <a:r>
              <a:rPr lang="en-IN" dirty="0"/>
              <a:t>Box blur  (3×3 averaging filter)</a:t>
            </a:r>
          </a:p>
          <a:p>
            <a:r>
              <a:rPr lang="en-IN" b="1" dirty="0"/>
              <a:t>(or) </a:t>
            </a:r>
            <a:r>
              <a:rPr lang="en-IN" dirty="0"/>
              <a:t>Motion blur (3×3 diagonal kernel)</a:t>
            </a:r>
          </a:p>
          <a:p>
            <a:r>
              <a:rPr lang="en-IN" dirty="0"/>
              <a:t>Noise (Noise standard deviation sampled uniformly from [0.01, 0.05])</a:t>
            </a:r>
          </a:p>
          <a:p>
            <a:r>
              <a:rPr lang="en-IN" dirty="0"/>
              <a:t>Brightness scaling (Brightness multiplier sampled uniformly from [0.9, 1.1])</a:t>
            </a:r>
          </a:p>
          <a:p>
            <a:r>
              <a:rPr lang="en-IN" dirty="0"/>
              <a:t>Clamp pixel values to [0,1]</a:t>
            </a:r>
          </a:p>
          <a:p>
            <a:r>
              <a:rPr lang="en-IN" b="1" dirty="0"/>
              <a:t>Negative (Forgery)</a:t>
            </a:r>
            <a:endParaRPr lang="en-IN" dirty="0"/>
          </a:p>
          <a:p>
            <a:r>
              <a:rPr lang="en-IN" dirty="0"/>
              <a:t>Random local region </a:t>
            </a:r>
          </a:p>
          <a:p>
            <a:r>
              <a:rPr lang="en-IN" dirty="0"/>
              <a:t>Checkerboard style watermark (8*8 patch with blocks of size 2*2 with opacity sampled uniformly from [0.25, 0.40]</a:t>
            </a:r>
          </a:p>
          <a:p>
            <a:r>
              <a:rPr lang="en-IN" dirty="0"/>
              <a:t>Feathered blending (Kernel size = 11×11,  σ = 2.0)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61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A7AA-2E09-8538-0D92-4024E17F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Contrastive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3A505-8919-5191-A778-BAC0857E7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Anchor: Real Image</a:t>
            </a:r>
          </a:p>
          <a:p>
            <a:r>
              <a:rPr lang="en-IN" dirty="0"/>
              <a:t>Positive: Benign Transformation</a:t>
            </a:r>
          </a:p>
          <a:p>
            <a:r>
              <a:rPr lang="en-IN" dirty="0"/>
              <a:t>Negative: Locally Tampered Image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A2B7E-E73E-07D1-3BC4-8E38EE443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3" y="3539460"/>
            <a:ext cx="11096693" cy="263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1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E5E9-A1CB-29DC-2637-23436F80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vs POSITIVE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96BE5-D4C6-9F8D-EEA3-B33700508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MATCHED PAIRS (DIAGONAL) </a:t>
            </a:r>
          </a:p>
          <a:p>
            <a:pPr marL="0" indent="0">
              <a:buNone/>
            </a:pPr>
            <a:r>
              <a:rPr lang="en-US" dirty="0"/>
              <a:t>Mean : 0.951617</a:t>
            </a:r>
          </a:p>
          <a:p>
            <a:pPr marL="0" indent="0">
              <a:buNone/>
            </a:pPr>
            <a:r>
              <a:rPr lang="en-US" dirty="0"/>
              <a:t>Std  : 0.066671</a:t>
            </a:r>
          </a:p>
          <a:p>
            <a:pPr marL="0" indent="0">
              <a:buNone/>
            </a:pPr>
            <a:r>
              <a:rPr lang="en-US" dirty="0"/>
              <a:t>Max  : 0.999973</a:t>
            </a:r>
          </a:p>
          <a:p>
            <a:pPr marL="0" indent="0">
              <a:buNone/>
            </a:pPr>
            <a:r>
              <a:rPr lang="en-US" dirty="0"/>
              <a:t>Min  : -0.137218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UNMATCHED PAIRS (OFF-DIAGONAL) </a:t>
            </a:r>
          </a:p>
          <a:p>
            <a:pPr marL="0" indent="0">
              <a:buNone/>
            </a:pPr>
            <a:r>
              <a:rPr lang="en-US" dirty="0"/>
              <a:t>Mean : 0.003760</a:t>
            </a:r>
          </a:p>
          <a:p>
            <a:pPr marL="0" indent="0">
              <a:buNone/>
            </a:pPr>
            <a:r>
              <a:rPr lang="en-US" dirty="0"/>
              <a:t>Std  : 0.129310</a:t>
            </a:r>
          </a:p>
          <a:p>
            <a:pPr marL="0" indent="0">
              <a:buNone/>
            </a:pPr>
            <a:r>
              <a:rPr lang="en-US" dirty="0"/>
              <a:t>Max  : 0.994801</a:t>
            </a:r>
          </a:p>
          <a:p>
            <a:pPr marL="0" indent="0">
              <a:buNone/>
            </a:pPr>
            <a:r>
              <a:rPr lang="en-US" dirty="0"/>
              <a:t>Min  : -0.654788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Gap (</a:t>
            </a:r>
            <a:r>
              <a:rPr lang="en-US" dirty="0" err="1"/>
              <a:t>diag</a:t>
            </a:r>
            <a:r>
              <a:rPr lang="en-US" dirty="0"/>
              <a:t> - </a:t>
            </a:r>
            <a:r>
              <a:rPr lang="en-US" dirty="0" err="1"/>
              <a:t>offdiag</a:t>
            </a:r>
            <a:r>
              <a:rPr lang="en-US" dirty="0"/>
              <a:t>): 0.947857</a:t>
            </a:r>
          </a:p>
        </p:txBody>
      </p:sp>
    </p:spTree>
    <p:extLst>
      <p:ext uri="{BB962C8B-B14F-4D97-AF65-F5344CB8AC3E}">
        <p14:creationId xmlns:p14="http://schemas.microsoft.com/office/powerpoint/2010/main" val="428462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A3B3-940E-7B90-2406-0BB9029F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vs NEGATIVE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3E3-E15D-D7D2-FF76-92656711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MATCHED PAIRS (DIAGONAL) </a:t>
            </a:r>
          </a:p>
          <a:p>
            <a:r>
              <a:rPr lang="en-US" dirty="0"/>
              <a:t>Mean : 0.211598</a:t>
            </a:r>
          </a:p>
          <a:p>
            <a:r>
              <a:rPr lang="en-US" dirty="0"/>
              <a:t>Std  : 0.280110</a:t>
            </a:r>
          </a:p>
          <a:p>
            <a:r>
              <a:rPr lang="en-US" dirty="0"/>
              <a:t>Max  : 1.000000</a:t>
            </a:r>
          </a:p>
          <a:p>
            <a:r>
              <a:rPr lang="en-US" dirty="0"/>
              <a:t>Min  : -0.425482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UNMATCHED PAIRS (OFF-DIAGONAL) </a:t>
            </a:r>
          </a:p>
          <a:p>
            <a:r>
              <a:rPr lang="en-US" dirty="0"/>
              <a:t>Mean : -0.054855</a:t>
            </a:r>
          </a:p>
          <a:p>
            <a:r>
              <a:rPr lang="en-US" dirty="0"/>
              <a:t>Std  : 0.187910</a:t>
            </a:r>
          </a:p>
          <a:p>
            <a:r>
              <a:rPr lang="en-US" dirty="0"/>
              <a:t>Max  : 0.997442</a:t>
            </a:r>
          </a:p>
          <a:p>
            <a:r>
              <a:rPr lang="en-US" dirty="0"/>
              <a:t>Min  : -0.661103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96BF-5D54-2C3E-FBAD-296F498D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POSITIVE vs NEGATIVE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33970-A4B5-09BD-664E-3796B9B76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MATCHED PAIRS (DIAGONAL) </a:t>
            </a:r>
          </a:p>
          <a:p>
            <a:r>
              <a:rPr lang="en-US" dirty="0"/>
              <a:t>Mean : 0.220691</a:t>
            </a:r>
          </a:p>
          <a:p>
            <a:r>
              <a:rPr lang="en-US" dirty="0"/>
              <a:t>Std  : 0.250255</a:t>
            </a:r>
          </a:p>
          <a:p>
            <a:r>
              <a:rPr lang="en-US" dirty="0"/>
              <a:t>Max  : 0.999975</a:t>
            </a:r>
          </a:p>
          <a:p>
            <a:r>
              <a:rPr lang="en-US" dirty="0"/>
              <a:t>Min  : -0.355016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UNMATCHED PAIRS (OFF-DIAGONAL) </a:t>
            </a:r>
          </a:p>
          <a:p>
            <a:pPr marL="0" indent="0">
              <a:buNone/>
            </a:pPr>
            <a:r>
              <a:rPr lang="en-US" dirty="0"/>
              <a:t> Mean : -0.035548</a:t>
            </a:r>
          </a:p>
          <a:p>
            <a:r>
              <a:rPr lang="en-US" dirty="0"/>
              <a:t>Std  : 0.143151</a:t>
            </a:r>
          </a:p>
          <a:p>
            <a:r>
              <a:rPr lang="en-US" dirty="0"/>
              <a:t>Max  : 0.997584</a:t>
            </a:r>
          </a:p>
          <a:p>
            <a:r>
              <a:rPr lang="en-US" dirty="0"/>
              <a:t>Min  : -0.636802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35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BB93-9365-37B8-27B7-CAF6788C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REAL-NEGATIVE HARDEST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2D4BA-3486-5CDE-534A-5B8D00FE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3503 -&gt; 1.000000 | </a:t>
            </a:r>
            <a:r>
              <a:rPr lang="en-IN" dirty="0" err="1"/>
              <a:t>eval_set</a:t>
            </a:r>
            <a:r>
              <a:rPr lang="en-IN" dirty="0"/>
              <a:t>\real\03503.png</a:t>
            </a:r>
          </a:p>
          <a:p>
            <a:r>
              <a:rPr lang="en-IN" dirty="0"/>
              <a:t>4640 -&gt; 0.999982 | </a:t>
            </a:r>
            <a:r>
              <a:rPr lang="en-IN" dirty="0" err="1"/>
              <a:t>eval_set</a:t>
            </a:r>
            <a:r>
              <a:rPr lang="en-IN" dirty="0"/>
              <a:t>\real\04640.png</a:t>
            </a:r>
          </a:p>
          <a:p>
            <a:r>
              <a:rPr lang="en-IN" dirty="0"/>
              <a:t>4928 -&gt; 0.999947 | </a:t>
            </a:r>
            <a:r>
              <a:rPr lang="en-IN" dirty="0" err="1"/>
              <a:t>eval_set</a:t>
            </a:r>
            <a:r>
              <a:rPr lang="en-IN" dirty="0"/>
              <a:t>\real\04928.png</a:t>
            </a:r>
          </a:p>
          <a:p>
            <a:r>
              <a:rPr lang="en-IN" dirty="0"/>
              <a:t>4645 -&gt; 0.999850 | </a:t>
            </a:r>
            <a:r>
              <a:rPr lang="en-IN" dirty="0" err="1"/>
              <a:t>eval_set</a:t>
            </a:r>
            <a:r>
              <a:rPr lang="en-IN" dirty="0"/>
              <a:t>\real\04645.png</a:t>
            </a:r>
          </a:p>
          <a:p>
            <a:r>
              <a:rPr lang="en-IN" dirty="0"/>
              <a:t>2210 -&gt; 0.999794 | </a:t>
            </a:r>
            <a:r>
              <a:rPr lang="en-IN" dirty="0" err="1"/>
              <a:t>eval_set</a:t>
            </a:r>
            <a:r>
              <a:rPr lang="en-IN" dirty="0"/>
              <a:t>\real\02210.png</a:t>
            </a:r>
          </a:p>
          <a:p>
            <a:r>
              <a:rPr lang="en-IN" dirty="0"/>
              <a:t>3086 -&gt; 0.999580 | </a:t>
            </a:r>
            <a:r>
              <a:rPr lang="en-IN" dirty="0" err="1"/>
              <a:t>eval_set</a:t>
            </a:r>
            <a:r>
              <a:rPr lang="en-IN" dirty="0"/>
              <a:t>\real\03086.png</a:t>
            </a:r>
          </a:p>
          <a:p>
            <a:r>
              <a:rPr lang="en-IN" dirty="0"/>
              <a:t>2009 -&gt; 0.999403 | </a:t>
            </a:r>
            <a:r>
              <a:rPr lang="en-IN" dirty="0" err="1"/>
              <a:t>eval_set</a:t>
            </a:r>
            <a:r>
              <a:rPr lang="en-IN" dirty="0"/>
              <a:t>\real\02009.png</a:t>
            </a:r>
          </a:p>
          <a:p>
            <a:r>
              <a:rPr lang="en-IN" dirty="0"/>
              <a:t>3278 -&gt; 0.999395 | </a:t>
            </a:r>
            <a:r>
              <a:rPr lang="en-IN" dirty="0" err="1"/>
              <a:t>eval_set</a:t>
            </a:r>
            <a:r>
              <a:rPr lang="en-IN" dirty="0"/>
              <a:t>\real\03278.png</a:t>
            </a:r>
          </a:p>
          <a:p>
            <a:r>
              <a:rPr lang="en-IN" dirty="0"/>
              <a:t>0418 -&gt; 0.999390 | </a:t>
            </a:r>
            <a:r>
              <a:rPr lang="en-IN" dirty="0" err="1"/>
              <a:t>eval_set</a:t>
            </a:r>
            <a:r>
              <a:rPr lang="en-IN" dirty="0"/>
              <a:t>\real\00418.png</a:t>
            </a:r>
          </a:p>
          <a:p>
            <a:r>
              <a:rPr lang="en-IN" dirty="0"/>
              <a:t>1018 -&gt; 0.999383 | </a:t>
            </a:r>
            <a:r>
              <a:rPr lang="en-IN" dirty="0" err="1"/>
              <a:t>eval_set</a:t>
            </a:r>
            <a:r>
              <a:rPr lang="en-IN" dirty="0"/>
              <a:t>\real\01018.png</a:t>
            </a:r>
          </a:p>
        </p:txBody>
      </p:sp>
    </p:spTree>
    <p:extLst>
      <p:ext uri="{BB962C8B-B14F-4D97-AF65-F5344CB8AC3E}">
        <p14:creationId xmlns:p14="http://schemas.microsoft.com/office/powerpoint/2010/main" val="2949389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096D-1322-6608-7F1F-F5C5E638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Theshold</a:t>
            </a:r>
            <a:r>
              <a:rPr lang="en-IN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9968-0C91-622A-3D29-B7C4B323B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 sweep: 2001 points from -1 to 1</a:t>
            </a:r>
          </a:p>
          <a:p>
            <a:r>
              <a:rPr lang="en-US" dirty="0"/>
              <a:t>Best Threshold : 0.815000</a:t>
            </a:r>
          </a:p>
          <a:p>
            <a:r>
              <a:rPr lang="en-US" dirty="0"/>
              <a:t>Best Accuracy  : 96.33%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19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59C2-119C-B62F-89E7-26AF9F12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Heatmaps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FB54EC-4E0A-659C-874F-979AF19BF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512"/>
            <a:ext cx="4493342" cy="3931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86A4F-FB0A-9ADC-B990-4225322B0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429" y="2082415"/>
            <a:ext cx="4619271" cy="4041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77F828-1693-4112-01A2-2EEB2C394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013" y="2082415"/>
            <a:ext cx="4619271" cy="40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6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A760-0ABA-D59C-C309-CD20D579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RP/RN Diagonal similarity histogram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1B1A8B-13DE-6260-F929-EE3E1DC65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219" y="1353958"/>
            <a:ext cx="7056864" cy="529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4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2058-42E8-7672-E895-35EA3D11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– 1 (3503 -&gt; 1.000000) </a:t>
            </a:r>
            <a:br>
              <a:rPr lang="en-IN" dirty="0"/>
            </a:br>
            <a:r>
              <a:rPr lang="en-IN" dirty="0"/>
              <a:t>Order (Real, Negative, Mask)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71DD85-554F-F521-DA17-0BA6A48C1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3" y="2388803"/>
            <a:ext cx="2291351" cy="2291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F4629F-D4E2-E08F-4E51-8B0F566D1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18" y="2526454"/>
            <a:ext cx="2153699" cy="21536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56A70B-C991-61BC-1AEB-4A217B0C3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715" y="2485102"/>
            <a:ext cx="2153698" cy="21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8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CC0B-1B18-D657-333E-9A72A30B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– 2 (4640 -&gt; 0.999982)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C2A3C2-B15F-D752-68F0-A8C6FB459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1" y="2797942"/>
            <a:ext cx="2185219" cy="2185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939CE-0131-F401-C640-7BECE6D7B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1" y="2797942"/>
            <a:ext cx="2185219" cy="2185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5E0329-BDC5-DAF5-EF48-DBC472794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928" y="2819399"/>
            <a:ext cx="2185219" cy="218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50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2EE4-47D7-6508-329C-4A0DDA21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– 3 (4928 -&gt; 0.999947)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6C9A8-8FD0-5ABB-CEB7-B835F230D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60" y="2536287"/>
            <a:ext cx="2605983" cy="2605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97461D-DB86-8D8F-18DD-0EA8A63B8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39" y="2536287"/>
            <a:ext cx="2605982" cy="2605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F4BC6-9693-1714-F234-D1232949D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917" y="2536287"/>
            <a:ext cx="2555523" cy="255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8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CE4E-4F64-8B56-A52B-A220F274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– 4 (4645 -&gt; 0.999850)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6E37BE-2FCE-65DF-B98A-267D41AC8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8" y="2701412"/>
            <a:ext cx="2627671" cy="2627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EFDB6-30F3-114A-F15D-B97EEA262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851" y="2701411"/>
            <a:ext cx="2627671" cy="2627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811F70-6144-0AC5-64BC-02A954228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572" y="2689682"/>
            <a:ext cx="2627671" cy="26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3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1639-229E-A60C-C673-9DA65160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– 5 (2210 -&gt; 0.999794)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8F7F43-5792-65DA-58F4-B9953A4F5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6" y="2683770"/>
            <a:ext cx="2350345" cy="2350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A1BC97-56CC-A229-C64F-E82D9229C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812" y="2683770"/>
            <a:ext cx="2350344" cy="2350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82DCCD-256D-23E9-BBA9-F3177B1D6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0" y="2683770"/>
            <a:ext cx="2350344" cy="235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1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34AC-A556-F278-7510-257B1923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Easy – 1 (0040 -&gt; -0.425482)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BC06C-7221-82A0-0997-95B89EBD9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735" y="2644443"/>
            <a:ext cx="2520383" cy="2520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12726-F80B-B38F-CC3D-31B2F0AC4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645" y="2735825"/>
            <a:ext cx="2429001" cy="2429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FBF5D-D24D-1D15-E9A3-7B61834AC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73" y="2728017"/>
            <a:ext cx="2520383" cy="25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1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76B5-3FA9-F24D-8940-1B1FA375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Easy – 2 (1920 -&gt; -0.412669)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E1F3C5-56BC-6806-733C-E7C3B6A2D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19400"/>
            <a:ext cx="2431026" cy="2431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E8C99-22AF-FD8E-56F1-EAFCB901D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663" y="2819400"/>
            <a:ext cx="2431026" cy="2431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4B52AB-F5B2-D177-D75B-BF79B133F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13" y="2819400"/>
            <a:ext cx="2431026" cy="24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04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6FAA-70E4-E67D-3B63-36574FB0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Easy – 3 (2113 -&gt; -0.411554)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AB23BC-EBCE-240E-EF2D-13A10EB4D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48" y="2575616"/>
            <a:ext cx="2242190" cy="2242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681EC0-883F-7EAC-8690-475E60B89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0" y="2575616"/>
            <a:ext cx="2242190" cy="2242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47FB2E-5C76-AB22-25A0-816D576D5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758" y="2575615"/>
            <a:ext cx="2242189" cy="224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25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D691-2701-7EEA-F6B8-F669336E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in 10/5 batches of an epoch out of 25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33659-90D6-0493-131E-F60F7E8B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394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4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1CB9-93F0-C6CC-FE3B-EC3C2055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loss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78A2A6-6224-ED52-A7A3-7E6227F50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609</Words>
  <Application>Microsoft Office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Small Model</vt:lpstr>
      <vt:lpstr>The Architecture</vt:lpstr>
      <vt:lpstr>Data Pipeline</vt:lpstr>
      <vt:lpstr>Contrastive Objective</vt:lpstr>
      <vt:lpstr>REAL vs POSITIVE</vt:lpstr>
      <vt:lpstr>REAL vs NEGATIVE</vt:lpstr>
      <vt:lpstr>POSITIVE vs NEGATIVE</vt:lpstr>
      <vt:lpstr>REAL-NEGATIVE HARDEST CASES</vt:lpstr>
      <vt:lpstr>Theshold analysis</vt:lpstr>
      <vt:lpstr>Heatmaps</vt:lpstr>
      <vt:lpstr>RP/RN Diagonal similarity histogram</vt:lpstr>
      <vt:lpstr>Failure – 1 (3503 -&gt; 1.000000)  Order (Real, Negative, Mask)</vt:lpstr>
      <vt:lpstr>Failure – 2 (4640 -&gt; 0.999982)</vt:lpstr>
      <vt:lpstr>Failure – 3 (4928 -&gt; 0.999947)</vt:lpstr>
      <vt:lpstr>Failure – 4 (4645 -&gt; 0.999850)</vt:lpstr>
      <vt:lpstr>Failure – 5 (2210 -&gt; 0.999794)</vt:lpstr>
      <vt:lpstr>Easy – 1 (0040 -&gt; -0.425482)</vt:lpstr>
      <vt:lpstr>Easy – 2 (1920 -&gt; -0.412669)</vt:lpstr>
      <vt:lpstr>Easy – 3 (2113 -&gt; -0.411554)</vt:lpstr>
      <vt:lpstr>Loss in 10/5 batches of an epoch out of 25</vt:lpstr>
      <vt:lpstr>Epoch 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Yadav</dc:creator>
  <cp:lastModifiedBy>Tushar Yadav</cp:lastModifiedBy>
  <cp:revision>1</cp:revision>
  <dcterms:created xsi:type="dcterms:W3CDTF">2026-06-19T09:04:51Z</dcterms:created>
  <dcterms:modified xsi:type="dcterms:W3CDTF">2026-06-26T10:24:17Z</dcterms:modified>
</cp:coreProperties>
</file>