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58B5-7538-0A0E-22EC-8F010B2CF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EBC98-EF14-91BB-A2E3-41D48A39A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D9502-B64A-480F-CFA5-31263340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2C137-2106-6937-4DA3-F51ADE060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F8471-C460-8380-9472-FC460A1E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94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8747-62E5-05FE-8B98-16953EDC8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48F1F-7E55-400B-83D2-92AA761BE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42D08-F561-9067-DF70-C31F43E0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F4CB9-0968-B922-7726-79A59F2A1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A7DC5-135B-4F8A-34C4-EBCFFA70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72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89DF-CFFC-1A03-5950-2A9E312AE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48237-3886-7834-DDA9-437AD520D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3A8E8-82F2-88D4-748A-58AF62BE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7BDDD-D6A6-BAC5-6CBF-D651601F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1606F-AA16-A4A3-A68F-F5118A48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519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2A47-4B79-E635-2952-7711A1CA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23EC-62A1-BCC8-E2BC-6E7544A87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C2314-9393-9A68-49F2-544749388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A452-7021-D441-9F7A-BA52C5B1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9EE2C-5CB5-CC64-C38A-62639B20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F9E0B-3516-AF06-046E-04D38B78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40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C118-52EF-16CF-9973-07006149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EDBF8-3B84-A255-D211-B82DB5935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D3A9C-24E2-D5C6-D81C-95E264F3C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E74EF-8501-47ED-7055-9C980B2A4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0C60A-5EB7-5942-92C7-EA250A0D2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7F3D45-4A60-E602-042D-E170F96C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2EFA5-9F33-A2FF-2970-8D542F84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633533-001D-FE0D-6545-C92DC04C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52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70F9A-E685-27F9-B664-164433BC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C02ED-EE62-A250-AF52-5BD6176A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1AAD6-139A-2A28-1756-234BEA6E6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B91AB-83E1-63E0-F044-0DD874AE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41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62584-D644-BE2B-FF70-1D46ADD6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BE25E-EDC3-F1C1-BC84-E8B67D78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36ACE-0D46-B3CD-FA4A-FEF90E63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458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B4E3-3B80-B0B4-261D-971D34B6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C1F7F-FB14-05A5-4C9E-176A905CA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00E11-2E2F-00F5-A70F-746C49985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707DA-86E0-8BD5-C023-75ADEC5C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939E6-8A46-7B00-E9ED-058FA99E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78716-93E3-1795-2044-1E584AE0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10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F0AB-0289-AEAD-9D52-58D522A2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C2D77-D3BB-9301-556F-66B22C1B8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DA223-EE3C-925E-F7FD-419EFCD74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99701-E45C-75F5-81BB-DE03E8C0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F123C-37D3-606E-7004-265D0583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33052-6571-47D3-B978-3826539A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74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A012-4B0B-B0FB-4FEB-778B7297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4E53F-2467-4A46-54FA-502BDEE98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161FD-C3DC-5796-C0F7-78BA314B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98ED1-1E61-2E08-ABE4-FFF61B7B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F1751-1470-1F92-5638-9934AAE4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87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1FD79-F06E-479E-7DB9-4423DB720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BA0FE-94A0-B61C-A488-0B6C57B63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E7FDF-CC34-3CCC-824B-25F7D6E1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A92-BAF7-5448-C3D7-4602EA65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62A37-EB8D-B876-9CD4-BDF20E01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07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344FA-0E4E-2BC7-8ABE-CAAC4B43C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60820-3DAF-661C-C83B-C198309F3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A0CF-B6AF-2F4B-ED21-B345CA1D2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1E584-C49A-44C5-B2BA-BC6DFB37102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1B80-1E55-48FA-24E3-0A1AC036E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56409-8696-3606-6580-A3611AD9D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CB9CF-C7FA-4FB1-B0B2-F38AFE10B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56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438B-8FAE-1839-8BB0-3FCB27D7F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Realistic Model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7EBA9-250F-CDA5-307D-BC46B099C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Resnet50 based implementation of asymmetric contrastive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386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3CB0-2310-6431-F049-A5B6B486E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A2A64-EF25-1FE7-E445-740951AE9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ResNet50 encoder</a:t>
            </a:r>
          </a:p>
          <a:p>
            <a:r>
              <a:rPr lang="en-US" dirty="0" err="1"/>
              <a:t>Emedding</a:t>
            </a:r>
            <a:r>
              <a:rPr lang="en-US" dirty="0"/>
              <a:t> vector of dim 2048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43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17B0-9D61-F0C9-9240-43629D76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Contrastive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04BB6-57DE-D4B6-CE34-FED2BBC9F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Anchor: Real Image</a:t>
            </a:r>
          </a:p>
          <a:p>
            <a:r>
              <a:rPr lang="en-IN" dirty="0"/>
              <a:t>Positive: Benign Transformation</a:t>
            </a:r>
          </a:p>
          <a:p>
            <a:r>
              <a:rPr lang="en-IN" dirty="0"/>
              <a:t>Negative: Locally Tampered Image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50A5A-FB2A-891C-3217-F0EC02DD5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53" y="3539460"/>
            <a:ext cx="11096693" cy="263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7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237-F31E-4064-20C8-79F5B0A5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 stats of image pair embeddings of 5k test images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ECAE6-A422-49D2-F1A2-E80773A79F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999966"/>
              </p:ext>
            </p:extLst>
          </p:nvPr>
        </p:nvGraphicFramePr>
        <p:xfrm>
          <a:off x="1208589" y="1810873"/>
          <a:ext cx="10515597" cy="4572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937721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7232421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99570426"/>
                    </a:ext>
                  </a:extLst>
                </a:gridCol>
              </a:tblGrid>
              <a:tr h="381065">
                <a:tc>
                  <a:txBody>
                    <a:bodyPr/>
                    <a:lstStyle/>
                    <a:p>
                      <a:r>
                        <a:rPr lang="en-US" dirty="0"/>
                        <a:t>REAL vs POSITIVE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vs NEGATIVE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 vs NEGATIVE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399821"/>
                  </a:ext>
                </a:extLst>
              </a:tr>
              <a:tr h="381065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Matched Pairs (Diagonal)</a:t>
                      </a:r>
                      <a:endParaRPr lang="en-IN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18854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0.973401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0.012888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0.001430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293059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0.140917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0.097984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0.013734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302291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0.999982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0.998072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0.890599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090521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629948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683277"/>
                  </a:ext>
                </a:extLst>
              </a:tr>
              <a:tr h="381065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Unmatched Pairs (Off-Diagonal)</a:t>
                      </a:r>
                      <a:endParaRPr lang="en-IN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926904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0.007050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0.010352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0.001274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101347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0.022973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0.083293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0.013680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511253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0.993059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0.999849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0.983155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808146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02188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85A113-FD98-460F-2E60-7253FB699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80184"/>
              </p:ext>
            </p:extLst>
          </p:nvPr>
        </p:nvGraphicFramePr>
        <p:xfrm>
          <a:off x="467814" y="1810873"/>
          <a:ext cx="745602" cy="4572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602">
                  <a:extLst>
                    <a:ext uri="{9D8B030D-6E8A-4147-A177-3AD203B41FA5}">
                      <a16:colId xmlns:a16="http://schemas.microsoft.com/office/drawing/2014/main" val="1648154537"/>
                    </a:ext>
                  </a:extLst>
                </a:gridCol>
              </a:tblGrid>
              <a:tr h="38106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300078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302716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Mean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215039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Std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23704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Max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421663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Min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272608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55237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565843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Mean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801830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Std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13344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Max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272"/>
                  </a:ext>
                </a:extLst>
              </a:tr>
              <a:tr h="3810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Min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424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52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730DDA-C05F-DDC6-A9D2-81B76F313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985" y="107697"/>
            <a:ext cx="7951807" cy="662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1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DA8B96-49D8-C3FC-7311-31364635A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22" y="174740"/>
            <a:ext cx="8678025" cy="650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97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0107D5-9FC4-A7CE-E463-44ADDD1AD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709" y="31178"/>
            <a:ext cx="7905509" cy="677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EDBDB-F610-0BEA-EF8D-D31FB06B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Heatmaps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10EAAB-3174-40B5-5C79-B933DD1F2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0949"/>
            <a:ext cx="4676732" cy="409214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C99C822-E528-5C39-86AD-7622C5977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25" y="1810948"/>
            <a:ext cx="4676732" cy="40921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A46F94-AA69-89C5-60AC-B34860C03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589" y="1810948"/>
            <a:ext cx="4517993" cy="395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3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B27D77-D6BD-893B-34D5-BADC5AE12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15382"/>
              </p:ext>
            </p:extLst>
          </p:nvPr>
        </p:nvGraphicFramePr>
        <p:xfrm>
          <a:off x="632749" y="147575"/>
          <a:ext cx="10926502" cy="6562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251">
                  <a:extLst>
                    <a:ext uri="{9D8B030D-6E8A-4147-A177-3AD203B41FA5}">
                      <a16:colId xmlns:a16="http://schemas.microsoft.com/office/drawing/2014/main" val="391195223"/>
                    </a:ext>
                  </a:extLst>
                </a:gridCol>
                <a:gridCol w="5463251">
                  <a:extLst>
                    <a:ext uri="{9D8B030D-6E8A-4147-A177-3AD203B41FA5}">
                      <a16:colId xmlns:a16="http://schemas.microsoft.com/office/drawing/2014/main" val="3317762166"/>
                    </a:ext>
                  </a:extLst>
                </a:gridCol>
              </a:tblGrid>
              <a:tr h="656285">
                <a:tc gridSpan="2">
                  <a:txBody>
                    <a:bodyPr/>
                    <a:lstStyle/>
                    <a:p>
                      <a:pPr algn="ctr"/>
                      <a:r>
                        <a:rPr lang="en-IN" sz="3200" b="1" dirty="0"/>
                        <a:t>Held-out Evaluation Metrics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866400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Accuracy (correct decisions/ all decisions)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98.43%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536456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Benign Precision (TP/(TP+FP))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0.993278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504649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Recall (TP/(TP+FN))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0.975200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491097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F1-score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0.984156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684899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False-Positive Rate (FP/(FP+TN))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0.006600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469161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False-Negative Rate (FN/(FN+TP))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0.024800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424139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0.996453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4861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Equal Error Rate (EER)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0.016400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65840"/>
                  </a:ext>
                </a:extLst>
              </a:tr>
              <a:tr h="65628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EER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0.076856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01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1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04ED-A38E-CE35-50DC-CFEE0053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vs Negative hardest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A41E-CF2E-58A4-B199-EF2884FBC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HARDEST 10 RN CASES (highest real-negative similarity)</a:t>
            </a:r>
          </a:p>
          <a:p>
            <a:r>
              <a:rPr lang="en-IN" dirty="0"/>
              <a:t>4215 -&gt; 0.998072 | </a:t>
            </a:r>
            <a:r>
              <a:rPr lang="en-IN" dirty="0" err="1"/>
              <a:t>eval_set</a:t>
            </a:r>
            <a:r>
              <a:rPr lang="en-IN" dirty="0"/>
              <a:t>\real\04215.png</a:t>
            </a:r>
          </a:p>
          <a:p>
            <a:r>
              <a:rPr lang="en-IN" dirty="0"/>
              <a:t>2058 -&gt; 0.996788 | </a:t>
            </a:r>
            <a:r>
              <a:rPr lang="en-IN" dirty="0" err="1"/>
              <a:t>eval_set</a:t>
            </a:r>
            <a:r>
              <a:rPr lang="en-IN" dirty="0"/>
              <a:t>\real\02058.png</a:t>
            </a:r>
          </a:p>
          <a:p>
            <a:r>
              <a:rPr lang="en-IN" dirty="0"/>
              <a:t>3870 -&gt; 0.995191 | </a:t>
            </a:r>
            <a:r>
              <a:rPr lang="en-IN" dirty="0" err="1"/>
              <a:t>eval_set</a:t>
            </a:r>
            <a:r>
              <a:rPr lang="en-IN" dirty="0"/>
              <a:t>\real\03870.png</a:t>
            </a:r>
          </a:p>
          <a:p>
            <a:r>
              <a:rPr lang="en-IN" dirty="0"/>
              <a:t>3867 -&gt; 0.994833 | </a:t>
            </a:r>
            <a:r>
              <a:rPr lang="en-IN" dirty="0" err="1"/>
              <a:t>eval_set</a:t>
            </a:r>
            <a:r>
              <a:rPr lang="en-IN" dirty="0"/>
              <a:t>\real\03867.png</a:t>
            </a:r>
          </a:p>
          <a:p>
            <a:r>
              <a:rPr lang="en-IN" dirty="0"/>
              <a:t>4104 -&gt; 0.992215 | </a:t>
            </a:r>
            <a:r>
              <a:rPr lang="en-IN" dirty="0" err="1"/>
              <a:t>eval_set</a:t>
            </a:r>
            <a:r>
              <a:rPr lang="en-IN" dirty="0"/>
              <a:t>\real\04104.png</a:t>
            </a:r>
          </a:p>
          <a:p>
            <a:r>
              <a:rPr lang="en-IN" dirty="0"/>
              <a:t>2250 -&gt; 0.991438 | </a:t>
            </a:r>
            <a:r>
              <a:rPr lang="en-IN" dirty="0" err="1"/>
              <a:t>eval_set</a:t>
            </a:r>
            <a:r>
              <a:rPr lang="en-IN" dirty="0"/>
              <a:t>\real\02250.png</a:t>
            </a:r>
          </a:p>
          <a:p>
            <a:r>
              <a:rPr lang="en-IN" dirty="0"/>
              <a:t>1996 -&gt; 0.989574 | </a:t>
            </a:r>
            <a:r>
              <a:rPr lang="en-IN" dirty="0" err="1"/>
              <a:t>eval_set</a:t>
            </a:r>
            <a:r>
              <a:rPr lang="en-IN" dirty="0"/>
              <a:t>\real\01996.png</a:t>
            </a:r>
          </a:p>
          <a:p>
            <a:r>
              <a:rPr lang="en-IN" dirty="0"/>
              <a:t>1715 -&gt; 0.986286 | </a:t>
            </a:r>
            <a:r>
              <a:rPr lang="en-IN" dirty="0" err="1"/>
              <a:t>eval_set</a:t>
            </a:r>
            <a:r>
              <a:rPr lang="en-IN" dirty="0"/>
              <a:t>\real\01715.png</a:t>
            </a:r>
          </a:p>
          <a:p>
            <a:r>
              <a:rPr lang="en-IN" dirty="0"/>
              <a:t>4168 -&gt; 0.984923 | </a:t>
            </a:r>
            <a:r>
              <a:rPr lang="en-IN" dirty="0" err="1"/>
              <a:t>eval_set</a:t>
            </a:r>
            <a:r>
              <a:rPr lang="en-IN" dirty="0"/>
              <a:t>\real\04168.png</a:t>
            </a:r>
          </a:p>
          <a:p>
            <a:r>
              <a:rPr lang="en-IN" dirty="0"/>
              <a:t>2327 -&gt; 0.983926 | </a:t>
            </a:r>
            <a:r>
              <a:rPr lang="en-IN" dirty="0" err="1"/>
              <a:t>eval_set</a:t>
            </a:r>
            <a:r>
              <a:rPr lang="en-IN" dirty="0"/>
              <a:t>\real\02327.png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432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2DDD1-9DD6-D06F-7FC6-DF66B174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– 1 (4215 -&gt; 0.998072)    (Order: RNM)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5C0B49-4380-5800-68CF-D53306EC1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22" y="2382063"/>
            <a:ext cx="3049618" cy="3049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4ACCEC-4B12-A5D5-4906-B5F12ADF9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444" y="2382063"/>
            <a:ext cx="3049618" cy="3049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CDEBE9-6EB4-D372-B80A-4254D901C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666" y="2362200"/>
            <a:ext cx="3049618" cy="304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5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67FB-6D57-4D8C-B9D0-3C15A724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– 2 (2058 -&gt; 0.996788)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39178B-4D5A-AEEA-6BE9-3ED189B16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766" y="2362198"/>
            <a:ext cx="2968907" cy="2968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4DDB8-D33A-FA4C-B6AE-9B8BA72B7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430" y="2362197"/>
            <a:ext cx="2968907" cy="2968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2325BB-DA78-26C9-7656-756EE5555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22" y="2362197"/>
            <a:ext cx="2968907" cy="29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6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7680-9461-CF7C-A384-72DAB6E67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– 3 (3870 -&gt; 0.995191 )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54EC55-4FA5-3BE9-EB4B-F9008D920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82" y="2497132"/>
            <a:ext cx="2827534" cy="2827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DFFABA-45E3-A243-669E-8038DF339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017" y="2471506"/>
            <a:ext cx="2853159" cy="2853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872A36-A34C-199D-C975-2A2F0C960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282" y="2471505"/>
            <a:ext cx="2853159" cy="285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70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035C-F481-24CE-88C8-C1471EC6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 – 1 (3974 -&gt; 0.000000)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92E315-770B-C738-2B33-37DF64BB1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801" y="2211728"/>
            <a:ext cx="2927430" cy="2927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B1E2FE-FDC7-497A-4BD7-26E99D594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182" y="2211728"/>
            <a:ext cx="2927430" cy="2927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93FD4F-81EA-F0EA-93F3-04951A8F9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96" y="2211729"/>
            <a:ext cx="2927430" cy="29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14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B8CA-0402-975B-6931-5CA814BC6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 – 2 (2762 -&gt; 0.000000)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918DDA-E4B3-D15D-B38D-82B1807CA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23" y="2240011"/>
            <a:ext cx="3408433" cy="3408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39EE61-0F48-05E5-D327-5EE7DBEF4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855" y="2240011"/>
            <a:ext cx="3408433" cy="3408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101A6-0837-CBB3-A5DB-E0407213D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534" y="2240009"/>
            <a:ext cx="3408433" cy="34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43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76DE-5478-C3AE-7108-35CD172E4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 – 3 (2761 -&gt; 0.000000)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B86281-2C14-91FD-7FCB-6ACF076B7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30" y="2170565"/>
            <a:ext cx="3200088" cy="3200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14D11-1863-1219-0C22-0D8B25732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396" y="2170563"/>
            <a:ext cx="3200089" cy="3200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16184F-B596-6433-AA45-652D8EA8A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006" y="2170563"/>
            <a:ext cx="3200087" cy="320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86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3507-316A-3C75-E145-A26E15EE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curves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3EB254F-458B-7A49-FB72-A80E66415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5639"/>
            <a:ext cx="5693442" cy="2846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7B9EB2-2B88-6ABE-944E-100EA3387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442" y="2005640"/>
            <a:ext cx="6466033" cy="269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3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363</Words>
  <Application>Microsoft Office PowerPoint</Application>
  <PresentationFormat>Widescreen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Realistic Model</vt:lpstr>
      <vt:lpstr>The Architecture</vt:lpstr>
      <vt:lpstr>Contrastive Objective</vt:lpstr>
      <vt:lpstr>Cosine similarity stats of image pair embeddings of 5k test images</vt:lpstr>
      <vt:lpstr>PowerPoint Presentation</vt:lpstr>
      <vt:lpstr>PowerPoint Presentation</vt:lpstr>
      <vt:lpstr>PowerPoint Presentation</vt:lpstr>
      <vt:lpstr>Similarity Heatmaps</vt:lpstr>
      <vt:lpstr>PowerPoint Presentation</vt:lpstr>
      <vt:lpstr>Real vs Negative hardest cases</vt:lpstr>
      <vt:lpstr>Failure – 1 (4215 -&gt; 0.998072)    (Order: RNM)</vt:lpstr>
      <vt:lpstr>Failure – 2 (2058 -&gt; 0.996788)</vt:lpstr>
      <vt:lpstr>Failure – 3 (3870 -&gt; 0.995191 )</vt:lpstr>
      <vt:lpstr>Easy – 1 (3974 -&gt; 0.000000)</vt:lpstr>
      <vt:lpstr>Easy – 2 (2762 -&gt; 0.000000)</vt:lpstr>
      <vt:lpstr>Easy – 3 (2761 -&gt; 0.000000)</vt:lpstr>
      <vt:lpstr>Loss curves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Yadav</dc:creator>
  <cp:lastModifiedBy>Tushar Yadav</cp:lastModifiedBy>
  <cp:revision>3</cp:revision>
  <dcterms:created xsi:type="dcterms:W3CDTF">2026-07-10T07:45:09Z</dcterms:created>
  <dcterms:modified xsi:type="dcterms:W3CDTF">2026-07-10T10:27:14Z</dcterms:modified>
</cp:coreProperties>
</file>