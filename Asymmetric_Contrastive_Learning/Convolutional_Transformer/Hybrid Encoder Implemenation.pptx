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C969E-6CCC-89CC-E51F-37C3B95984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F10DEA-8955-3C0A-4FB1-5EC67FED92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43F538-DBF9-1D15-44FB-6E358A53E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B209E-7F6F-4BC3-8854-C7FB25C1552E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7799DA-1680-BC55-13C7-D9FE2BB4A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055DE-4A10-04DB-E702-DBF1F6243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4EDEA-9F1F-4254-A7C2-AE410D98DE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085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9EE95-2DC6-7DC5-FC6A-624BF0CB1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72686-1107-91AE-12DB-8078ECD582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5A922-3203-12C9-604B-62193751A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B209E-7F6F-4BC3-8854-C7FB25C1552E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86883E-750A-19D7-B1C5-BC822E163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5BB0E3-B755-70EA-D2CF-67DF39A40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4EDEA-9F1F-4254-A7C2-AE410D98DE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7025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4AC26-2376-A436-D617-C780735C9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886F97-D2AB-58F8-2493-301E20A621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4BA8-AACE-4358-5487-43DF43399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B209E-7F6F-4BC3-8854-C7FB25C1552E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EBCF20-2EE4-BFDE-1E8E-F6D96085A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9AF613-F797-79AC-BCE9-6DF9331B9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4EDEA-9F1F-4254-A7C2-AE410D98DE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4059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1FEFC-7510-921B-027B-6B55A8AEF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018C5-E5E7-ABDB-C0CC-A2A0C62494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804215-1E98-6153-476D-C99E8619A9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4662CE-7624-2CD2-A6FE-4DA42C050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B209E-7F6F-4BC3-8854-C7FB25C1552E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D6F3D8-C868-B7A4-196E-2E7F4B714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F6244F-C813-B3BC-5E79-FD57EBC1F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4EDEA-9F1F-4254-A7C2-AE410D98DE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9618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0870F-3F65-95CF-3ABD-35C68F87C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F5AB28-9834-9D09-40E8-5A17FF9180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A2CE54-53FA-E57E-25A3-7975DACF28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626CF3-7343-C462-D647-223C38F3D9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025705-56F9-B2C5-7321-7661084C3D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645F8D-8B6C-74AA-3BAE-6ADCEE109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B209E-7F6F-4BC3-8854-C7FB25C1552E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AD4854-82ED-7127-72E1-7904A72F8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699C31-C02A-E138-1397-A335FD74C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4EDEA-9F1F-4254-A7C2-AE410D98DE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5329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38286-DC04-9247-5141-15469D1A5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6E6A57-A85D-65BB-1C63-C1B742CFA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B209E-7F6F-4BC3-8854-C7FB25C1552E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B15CBC-A358-F3B5-6BEE-2F780C2C7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16382-4A1D-4AFE-A03C-BED6D843A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4EDEA-9F1F-4254-A7C2-AE410D98DE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6719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F9FE11-4557-9585-A025-CECD891DC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B209E-7F6F-4BC3-8854-C7FB25C1552E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D182B7-166D-1573-E53A-90B49B242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C8CEB6-7EB8-A0DA-D274-4F9CB0C5F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4EDEA-9F1F-4254-A7C2-AE410D98DE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4147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B6E42-609D-0D68-B000-76E735390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357A1-BBD7-7DF4-2334-D062CE39DF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31EBAA-2EF4-D97E-C7A9-0DD8593438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7360DD-3979-41B5-E52C-8AAEFB7CF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B209E-7F6F-4BC3-8854-C7FB25C1552E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A1DDF9-9C38-6E5C-72D5-FA77D583D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3995D8-215E-1C2E-4941-AD85F1AA3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4EDEA-9F1F-4254-A7C2-AE410D98DE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005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A370C-6041-F9DC-180B-CC3185DAC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154AF9-56D2-7E2F-3DEA-FC295683DF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8E26A6-8A6D-01A6-C6CE-03817B7310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6D29CD-E7DF-4C04-63D3-1C963E774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B209E-7F6F-4BC3-8854-C7FB25C1552E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897F8C-F639-6CFC-64FC-B9A105727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66AA7E-6BAE-7B88-98CD-D88121AAC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4EDEA-9F1F-4254-A7C2-AE410D98DE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3846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70CC7-3F5F-69AF-7920-C3B226372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22FB82-3A42-255A-664A-298402E6DB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78E239-AC50-D93C-783F-B19C030D0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B209E-7F6F-4BC3-8854-C7FB25C1552E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30F27-CCF0-756F-0E64-E152869A0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B1296-A892-C965-9CE5-88CA77930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4EDEA-9F1F-4254-A7C2-AE410D98DE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4605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974477-C53F-7AAB-304A-3B7967BDD4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E661B8-7B05-8EF1-9250-8A6F114464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11195E-96A1-76A0-D97C-1E1F583BC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B209E-7F6F-4BC3-8854-C7FB25C1552E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57BFE3-1A1E-A4DD-E1DA-C1038384E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49ECE5-ED88-FDB9-AEEF-0EA676F3F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4EDEA-9F1F-4254-A7C2-AE410D98DE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4402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BD6BB1-74C8-B867-CF0E-A09EA5787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0B0A00-39FD-FD71-402F-51F0AD02E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69538-B0E6-4E5C-B828-2957C465EA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AB209E-7F6F-4BC3-8854-C7FB25C1552E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9414E1-A477-D485-EBD4-E326E7F0D0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E8DF5-E5C1-0D4E-02D6-F953C5129C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F4EDEA-9F1F-4254-A7C2-AE410D98DE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6602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835D0-F4F4-2706-5263-2B1D188068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Hybrid Encoder </a:t>
            </a:r>
            <a:r>
              <a:rPr lang="en-IN" dirty="0" err="1"/>
              <a:t>Implemenation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A67AB2-BAD8-8CEB-7FE0-F6E18667FC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7443017"/>
            <a:ext cx="9144000" cy="48178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1143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C9AE3-559E-709A-2864-16C049AF7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CNN + Transformer?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D8B76-EDDE-E7F9-42FE-2AEF267FE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b="1" dirty="0"/>
              <a:t>CNN</a:t>
            </a:r>
            <a:endParaRPr lang="en-IN" dirty="0"/>
          </a:p>
          <a:p>
            <a:r>
              <a:rPr lang="en-IN" dirty="0"/>
              <a:t>Captures local forensic traces and texture artifacts. </a:t>
            </a:r>
          </a:p>
          <a:p>
            <a:r>
              <a:rPr lang="en-IN" dirty="0"/>
              <a:t>Efficient feature extraction with strong inductive biases. </a:t>
            </a:r>
          </a:p>
          <a:p>
            <a:r>
              <a:rPr lang="en-IN" b="1" dirty="0"/>
              <a:t>Transformer</a:t>
            </a:r>
            <a:endParaRPr lang="en-IN" dirty="0"/>
          </a:p>
          <a:p>
            <a:r>
              <a:rPr lang="en-IN" dirty="0"/>
              <a:t>Models long-range dependencies. </a:t>
            </a:r>
          </a:p>
          <a:p>
            <a:r>
              <a:rPr lang="en-IN" dirty="0"/>
              <a:t>Links distant image patches. </a:t>
            </a:r>
          </a:p>
          <a:p>
            <a:r>
              <a:rPr lang="en-IN" dirty="0"/>
              <a:t>Aggregates global semantic context. </a:t>
            </a:r>
          </a:p>
          <a:p>
            <a:r>
              <a:rPr lang="en-IN" b="1" dirty="0"/>
              <a:t>Motivation</a:t>
            </a:r>
            <a:endParaRPr lang="en-IN" dirty="0"/>
          </a:p>
          <a:p>
            <a:r>
              <a:rPr lang="en-IN" dirty="0"/>
              <a:t>Forgery detection may require both local evidence and global consistency.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1444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5D356-E4DE-18B4-4434-EA8E882AD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Original Architecture Idea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D39360-F224-C38C-C71E-2FD5511F27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24981" y="1775637"/>
            <a:ext cx="5230760" cy="4717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599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89BB5-DCF5-2C57-2350-FA945166D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Pivot to Conv Transformer?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5FFB0C4-8C61-A456-736A-30E20C5D00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9439" y="2320881"/>
            <a:ext cx="12239376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Convolutional Vision Transformers already embody the CNN + Transformer philosophy.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CNNs to extract informative local features.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Allow transformers to reason over those features.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Easier baseline before exploring novel dual-encoder designs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967977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CDFBD-7E4B-C1BA-6B2D-EFD54031C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Full </a:t>
            </a:r>
            <a:r>
              <a:rPr lang="en-IN" dirty="0" err="1"/>
              <a:t>CvT</a:t>
            </a:r>
            <a:r>
              <a:rPr lang="en-IN" dirty="0"/>
              <a:t> Pipeline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62B982-F74C-16E3-8982-E4DDC02F78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8584" y="1420955"/>
            <a:ext cx="3564925" cy="52921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D70B7F-1BEB-93B4-FAE9-10D343786F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8858" y="1467711"/>
            <a:ext cx="3431324" cy="502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530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2CED8-2C13-8DB9-4865-8701E762B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91C0F-859E-8C93-3D5A-F8B857DF4D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Positive (Benign)</a:t>
            </a:r>
            <a:endParaRPr lang="en-IN" dirty="0"/>
          </a:p>
          <a:p>
            <a:r>
              <a:rPr lang="en-IN" dirty="0"/>
              <a:t>Gaussian blur </a:t>
            </a:r>
          </a:p>
          <a:p>
            <a:r>
              <a:rPr lang="en-IN" dirty="0"/>
              <a:t>Box blur </a:t>
            </a:r>
          </a:p>
          <a:p>
            <a:r>
              <a:rPr lang="en-IN" dirty="0"/>
              <a:t>Motion blur </a:t>
            </a:r>
          </a:p>
          <a:p>
            <a:r>
              <a:rPr lang="en-IN" dirty="0"/>
              <a:t>Noise </a:t>
            </a:r>
          </a:p>
          <a:p>
            <a:r>
              <a:rPr lang="en-IN" dirty="0"/>
              <a:t>Brightness scaling </a:t>
            </a:r>
          </a:p>
          <a:p>
            <a:r>
              <a:rPr lang="en-IN" b="1" dirty="0"/>
              <a:t>Negative (Forgery)</a:t>
            </a:r>
            <a:endParaRPr lang="en-IN" dirty="0"/>
          </a:p>
          <a:p>
            <a:r>
              <a:rPr lang="en-IN" dirty="0"/>
              <a:t>Random local region </a:t>
            </a:r>
          </a:p>
          <a:p>
            <a:r>
              <a:rPr lang="en-IN" dirty="0"/>
              <a:t>Heavy Gaussian blur (Or a watermark, suggester later by JP)</a:t>
            </a:r>
          </a:p>
          <a:p>
            <a:r>
              <a:rPr lang="en-IN" dirty="0"/>
              <a:t>Feathered blending </a:t>
            </a:r>
          </a:p>
          <a:p>
            <a:r>
              <a:rPr lang="en-IN" dirty="0"/>
              <a:t>Tamper size increased later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5499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52F2E-A850-863B-3A35-5C83A1D80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Contrastive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5E7FE-5EF0-373E-7C1B-700C4BFED4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Anchor: Real Image</a:t>
            </a:r>
          </a:p>
          <a:p>
            <a:r>
              <a:rPr lang="en-IN" dirty="0"/>
              <a:t>Positive: Benign Transformation</a:t>
            </a:r>
          </a:p>
          <a:p>
            <a:r>
              <a:rPr lang="en-IN" dirty="0"/>
              <a:t>Negative: Locally Tampered Image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113EC4-6B61-8375-52DE-3D3D9BEA6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653" y="3539460"/>
            <a:ext cx="11096693" cy="2637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58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CCCEC-93DE-4889-4F7C-3569B9D89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Epoch 183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F0897-50F2-F6B5-A694-117FC6D9FF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(the statistics.txt file)</a:t>
            </a:r>
          </a:p>
        </p:txBody>
      </p:sp>
    </p:spTree>
    <p:extLst>
      <p:ext uri="{BB962C8B-B14F-4D97-AF65-F5344CB8AC3E}">
        <p14:creationId xmlns:p14="http://schemas.microsoft.com/office/powerpoint/2010/main" val="2493749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75CDE-E4F1-931D-7959-AB0007206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Heatmaps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423123-FA68-8772-1021-2709C5BA03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57" y="1818507"/>
            <a:ext cx="4503183" cy="39402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0836F4-D038-399A-BBC0-7D794101E6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8330" y="1754597"/>
            <a:ext cx="4649262" cy="40681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9ED916F-2CB5-4A7B-BE52-65D873A2B2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2738" y="1766873"/>
            <a:ext cx="4649262" cy="4068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6055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50CBE-2FEC-9412-B91E-B21701CA7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Worst Image </a:t>
            </a:r>
            <a:r>
              <a:rPr lang="en-IN" dirty="0" err="1"/>
              <a:t>comparision</a:t>
            </a:r>
            <a:r>
              <a:rPr lang="en-IN" dirty="0"/>
              <a:t>: 010 -&gt; 1.000000 </a:t>
            </a:r>
            <a:br>
              <a:rPr lang="en-IN" dirty="0"/>
            </a:br>
            <a:r>
              <a:rPr lang="en-IN" dirty="0"/>
              <a:t>(Order: RPN)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3FCD38-D75B-D755-0056-C1718C808D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16" y="1884618"/>
            <a:ext cx="3768930" cy="37689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B9FDE8-B707-ECEE-167C-F1C9ED7F94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6738" y="1884618"/>
            <a:ext cx="3768930" cy="37689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DF06E1-5EF2-96D4-933C-7E7C60BC64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042" y="1884618"/>
            <a:ext cx="3768930" cy="3768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39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3CBF4-7BC6-781B-8B5C-552C57E11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146 -&gt; 1.000000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16A56C-9B4D-7826-E38E-FF0DB676C7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7156" y="1887563"/>
            <a:ext cx="3728884" cy="37288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91623D-AF81-815F-83B2-A879A51E1D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5971" y="1887563"/>
            <a:ext cx="3660058" cy="36600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5AC4BF7-03F2-34E8-675F-E0AADCF56E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36" y="1887563"/>
            <a:ext cx="3660058" cy="366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788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A10E8-AE03-4CB3-2183-6915D347D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Failure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521F8-ABE8-6B47-11D0-42093AE505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Observations:</a:t>
            </a:r>
          </a:p>
          <a:p>
            <a:r>
              <a:rPr lang="en-IN" dirty="0"/>
              <a:t>Hard negatives often corresponded to blur landing on walls/backgrounds. </a:t>
            </a:r>
          </a:p>
          <a:p>
            <a:r>
              <a:rPr lang="en-IN" dirty="0"/>
              <a:t>Low-information regions produced ambiguous negatives. </a:t>
            </a:r>
          </a:p>
          <a:p>
            <a:r>
              <a:rPr lang="en-IN" dirty="0"/>
              <a:t>Model learned semantic invariance better than hard-negative separation.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34945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357D3A-B856-EFAF-80AF-7207C68BB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155" y="552906"/>
            <a:ext cx="5165936" cy="1674904"/>
          </a:xfrm>
        </p:spPr>
        <p:txBody>
          <a:bodyPr anchor="ctr">
            <a:normAutofit/>
          </a:bodyPr>
          <a:lstStyle/>
          <a:p>
            <a:r>
              <a:rPr lang="en-IN" sz="4000"/>
              <a:t>GPU Profiling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D3E6C-AB9B-593B-5F7A-EFD2DC978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0909" y="552906"/>
            <a:ext cx="5159825" cy="1674905"/>
          </a:xfrm>
        </p:spPr>
        <p:txBody>
          <a:bodyPr anchor="ctr">
            <a:normAutofit/>
          </a:bodyPr>
          <a:lstStyle/>
          <a:p>
            <a:r>
              <a:rPr lang="en-IN" sz="2000" dirty="0"/>
              <a:t>Parameters are tiny (~0.2 GB). Activations dominate memory usage.</a:t>
            </a:r>
          </a:p>
          <a:p>
            <a:r>
              <a:rPr lang="en-IN" sz="2000" dirty="0"/>
              <a:t>GPU Usage on A100: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B488170-B8D9-9749-2C03-FD81F1422C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7899033"/>
              </p:ext>
            </p:extLst>
          </p:nvPr>
        </p:nvGraphicFramePr>
        <p:xfrm>
          <a:off x="1654505" y="2405149"/>
          <a:ext cx="8876891" cy="3899396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4873491">
                  <a:extLst>
                    <a:ext uri="{9D8B030D-6E8A-4147-A177-3AD203B41FA5}">
                      <a16:colId xmlns:a16="http://schemas.microsoft.com/office/drawing/2014/main" val="1550542450"/>
                    </a:ext>
                  </a:extLst>
                </a:gridCol>
                <a:gridCol w="4003400">
                  <a:extLst>
                    <a:ext uri="{9D8B030D-6E8A-4147-A177-3AD203B41FA5}">
                      <a16:colId xmlns:a16="http://schemas.microsoft.com/office/drawing/2014/main" val="659179984"/>
                    </a:ext>
                  </a:extLst>
                </a:gridCol>
              </a:tblGrid>
              <a:tr h="9748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cap="none" spc="0">
                          <a:solidFill>
                            <a:schemeClr val="tx1"/>
                          </a:solidFill>
                        </a:rPr>
                        <a:t>Batch/GPU</a:t>
                      </a:r>
                    </a:p>
                  </a:txBody>
                  <a:tcPr marL="0" marR="129405" marT="51762" marB="388214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800" b="1" cap="none" spc="0">
                          <a:solidFill>
                            <a:schemeClr val="tx1"/>
                          </a:solidFill>
                        </a:rPr>
                        <a:t>Memory</a:t>
                      </a:r>
                    </a:p>
                  </a:txBody>
                  <a:tcPr marL="0" marR="129405" marT="51762" marB="388214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2987896"/>
                  </a:ext>
                </a:extLst>
              </a:tr>
              <a:tr h="9748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cap="none" spc="0">
                          <a:solidFill>
                            <a:schemeClr val="tx1"/>
                          </a:solidFill>
                        </a:rPr>
                        <a:t>48</a:t>
                      </a:r>
                    </a:p>
                  </a:txBody>
                  <a:tcPr marL="0" marR="129405" marT="51762" marB="38821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800" cap="none" spc="0" dirty="0">
                          <a:solidFill>
                            <a:schemeClr val="tx1"/>
                          </a:solidFill>
                        </a:rPr>
                        <a:t>44.6 GB</a:t>
                      </a:r>
                    </a:p>
                  </a:txBody>
                  <a:tcPr marL="0" marR="129405" marT="51762" marB="38821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4058795"/>
                  </a:ext>
                </a:extLst>
              </a:tr>
              <a:tr h="9748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cap="none" spc="0">
                          <a:solidFill>
                            <a:schemeClr val="tx1"/>
                          </a:solidFill>
                        </a:rPr>
                        <a:t>64</a:t>
                      </a:r>
                    </a:p>
                  </a:txBody>
                  <a:tcPr marL="0" marR="129405" marT="51762" marB="38821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800" cap="none" spc="0" dirty="0">
                          <a:solidFill>
                            <a:schemeClr val="tx1"/>
                          </a:solidFill>
                        </a:rPr>
                        <a:t>59.1 GB</a:t>
                      </a:r>
                    </a:p>
                  </a:txBody>
                  <a:tcPr marL="0" marR="129405" marT="51762" marB="38821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7430679"/>
                  </a:ext>
                </a:extLst>
              </a:tr>
              <a:tr h="9748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cap="none" spc="0">
                          <a:solidFill>
                            <a:schemeClr val="tx1"/>
                          </a:solidFill>
                        </a:rPr>
                        <a:t>92</a:t>
                      </a:r>
                    </a:p>
                  </a:txBody>
                  <a:tcPr marL="0" marR="129405" marT="51762" marB="38821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800" cap="none" spc="0" dirty="0">
                          <a:solidFill>
                            <a:schemeClr val="tx1"/>
                          </a:solidFill>
                        </a:rPr>
                        <a:t>77.1 GB</a:t>
                      </a:r>
                    </a:p>
                  </a:txBody>
                  <a:tcPr marL="0" marR="129405" marT="51762" marB="38821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78427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77710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38748-53B2-9145-049B-6FBB720D2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37B21-5F95-F5E4-C7D1-1C60EAF81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Revisit dual-encoder architecture. </a:t>
            </a:r>
          </a:p>
          <a:p>
            <a:r>
              <a:rPr lang="en-IN" dirty="0"/>
              <a:t>Watermark negatives. </a:t>
            </a:r>
          </a:p>
          <a:p>
            <a:r>
              <a:rPr lang="en-IN" dirty="0"/>
              <a:t>Separate temperatures. </a:t>
            </a:r>
          </a:p>
          <a:p>
            <a:r>
              <a:rPr lang="en-IN" dirty="0" err="1"/>
              <a:t>ResNet</a:t>
            </a:r>
            <a:r>
              <a:rPr lang="en-IN" dirty="0"/>
              <a:t> baseline. </a:t>
            </a:r>
          </a:p>
          <a:p>
            <a:r>
              <a:rPr lang="en-IN" dirty="0"/>
              <a:t>SSM exploration.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4815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263</Words>
  <Application>Microsoft Office PowerPoint</Application>
  <PresentationFormat>Widescreen</PresentationFormat>
  <Paragraphs>62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Hybrid Encoder Implemenation</vt:lpstr>
      <vt:lpstr>Why CNN + Transformer?</vt:lpstr>
      <vt:lpstr>Original Architecture Idea</vt:lpstr>
      <vt:lpstr>Why Pivot to Conv Transformer?</vt:lpstr>
      <vt:lpstr>Full CvT Pipeline</vt:lpstr>
      <vt:lpstr>Data Pipeline</vt:lpstr>
      <vt:lpstr>Contrastive Objective</vt:lpstr>
      <vt:lpstr>Epoch 183 Statistics</vt:lpstr>
      <vt:lpstr>Heatmaps</vt:lpstr>
      <vt:lpstr>Worst Image comparision: 010 -&gt; 1.000000  (Order: RPN)</vt:lpstr>
      <vt:lpstr>146 -&gt; 1.000000</vt:lpstr>
      <vt:lpstr>Failure Analysis</vt:lpstr>
      <vt:lpstr>GPU Profiling</vt:lpstr>
      <vt:lpstr>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Tushar Yadav</dc:creator>
  <cp:lastModifiedBy>Tushar Yadav</cp:lastModifiedBy>
  <cp:revision>1</cp:revision>
  <dcterms:created xsi:type="dcterms:W3CDTF">2026-06-12T09:45:25Z</dcterms:created>
  <dcterms:modified xsi:type="dcterms:W3CDTF">2026-06-12T13:39:59Z</dcterms:modified>
</cp:coreProperties>
</file>