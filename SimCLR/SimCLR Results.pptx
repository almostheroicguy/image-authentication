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59" r:id="rId5"/>
    <p:sldId id="257" r:id="rId6"/>
    <p:sldId id="266" r:id="rId7"/>
    <p:sldId id="260" r:id="rId8"/>
    <p:sldId id="261" r:id="rId9"/>
    <p:sldId id="262" r:id="rId10"/>
    <p:sldId id="264" r:id="rId11"/>
    <p:sldId id="263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A62E-D457-4D32-5BF7-CAB0454B1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8334E-B7FB-281C-C6EF-DF9139E2B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333E0-3CFF-3A6D-683F-61E0D16E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1757C-4A5F-A8C6-3D35-98FA291B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46B1-FF93-BC9B-D2E9-FB1DABD7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5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6A83-8BB0-A2BC-9AEE-9046D37B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3C656-4052-5CF8-9BE0-D9DB4C3C1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4851-BE92-593D-B94B-5EEE624E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E1CC9-44FA-1A4D-D0E3-9A18CEC3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87661-561B-6150-65EF-19C872E2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1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5E6F-D53A-85F0-0274-5D3009DC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460DF-1B3C-6CEB-35C5-61A04002B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7E20-1613-D8FF-F16F-0BF64F07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2D8A8-9C60-FDCA-E112-D26CA85B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6374-3C35-210D-CBD6-F3968CE0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45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3270-D33E-CE3A-F04C-7913055E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DECF6-5CD1-4876-DDC6-92F5C3F05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5E352-55D1-504F-F02F-934874ED9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CCCF1-3E4F-A4D1-615E-D89D9464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23ED5-4C3C-AE11-46B9-B35F60A3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87413-8FE1-5C64-B961-30121333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59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2AC94-6E82-2F22-2A3D-7140B2C3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E8C53-7DAB-9C06-948F-C56C1631A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7CED1-608C-1B68-02A2-B024CC5D6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FF1BD-34A3-E8F9-901E-DFFCC2101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91E60-33F9-D041-7A53-D66496BE6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2C70D-D60B-BF31-9EEF-E1022673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9BBE5-94EE-B357-3A8A-547D9BF9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EAC00-D684-AD95-F325-A7D5A1D3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77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FFB0-3461-91EE-4893-6A9398CF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B52F1-CA80-0C22-A10F-88646AA1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4AEC03-E087-ADC2-1C58-987F4ED5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DFE0F-4410-4629-732F-BFF01CB6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78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E3380-99BC-2C55-F4CA-8AEA828D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AA9DC-AB7E-F627-F833-75E39181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5AA19-2D2A-81DA-F4F0-F68F95F7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24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E2DB-75E7-B52C-3809-51EB4792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B6E84-A55B-66D2-A936-124E028C7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8AFB1-1F99-49C8-3D56-2BE198ADC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97678-AE23-7FBD-BD01-365606A7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983EA-B0D1-F895-34F6-058EB110D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30B1B-D929-7F9F-3C48-8A26A47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978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BD63-03C0-EE8F-4DB3-42AA5C5A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D9C46-578F-9C46-4926-71DE5E87F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A4972-55D6-21ED-FD30-B1C17B421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E0E5F-CA0A-667C-8129-FA6C8191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2361D-C42D-56F7-A4F0-9463B574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4B990-3BA6-2113-2ADF-D1F64F0F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3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B7D7-725C-8BDE-495B-10028D5E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ED8D2-C3DD-7651-7E29-A6EF6B766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2284-5B78-F53D-AD63-1D08F8A4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4F8D3-8B3D-A7E1-16F2-59EA6CEC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09CEB-38C2-77AD-E1D3-F5054ED80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23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8B6B7F-1F43-61E1-4FE3-7F16968DF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F0DA2-15CF-B10A-143E-6EE47F5B7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B54CD-F1BF-7694-BE6F-BB28241D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D493B-E833-E5C3-96F7-4105F013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39398-D63E-5F76-3473-A470EE9E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75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42949-BB58-5EE7-2C82-45A7F75B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870E7-2AC2-F26B-7B49-8285B06FF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98950-C2E4-98AE-3C1E-A16918EC2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983FD-6D1C-4B38-8E49-CA2C2ED2E05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0EA52-7337-70A5-B384-3841B4283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F01B7-6B0C-00AB-6C41-60A06C75A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36E5C-49D5-4772-99EA-DE0C04719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85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E21A-5FB4-7879-026B-FACCE6F32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SimCLR</a:t>
            </a:r>
            <a:r>
              <a:rPr lang="en-IN" dirty="0"/>
              <a:t> Results</a:t>
            </a:r>
          </a:p>
        </p:txBody>
      </p:sp>
    </p:spTree>
    <p:extLst>
      <p:ext uri="{BB962C8B-B14F-4D97-AF65-F5344CB8AC3E}">
        <p14:creationId xmlns:p14="http://schemas.microsoft.com/office/powerpoint/2010/main" val="353026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01C4-2184-143C-9377-24DFC656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82315"/>
          </a:xfrm>
        </p:spPr>
        <p:txBody>
          <a:bodyPr/>
          <a:lstStyle/>
          <a:p>
            <a:r>
              <a:rPr lang="en-IN" dirty="0" err="1"/>
              <a:t>SimCLR</a:t>
            </a:r>
            <a:r>
              <a:rPr lang="en-IN" dirty="0"/>
              <a:t> Augmentation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FAFD9-33EF-B715-A5A3-EAA5B214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2316"/>
            <a:ext cx="10515600" cy="529464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Random Resized Crop (p=1.0)</a:t>
            </a:r>
            <a:endParaRPr lang="en-US" dirty="0"/>
          </a:p>
          <a:p>
            <a:r>
              <a:rPr lang="en-US" i="1" dirty="0"/>
              <a:t>Training:</a:t>
            </a:r>
            <a:r>
              <a:rPr lang="en-US" dirty="0"/>
              <a:t> Scale 0.08 to 1.0. Forces the model to map local features (e.g., an eye) to global facial geometry.</a:t>
            </a:r>
          </a:p>
          <a:p>
            <a:r>
              <a:rPr lang="en-US" i="1" dirty="0"/>
              <a:t>Testing:</a:t>
            </a:r>
            <a:r>
              <a:rPr lang="en-US" dirty="0"/>
              <a:t> Scale 0.6 to 1.0. Preserves core facial structure to strictly evaluate identity matching. I decreased it because the results were too bad with cropping ranging from 8% to 100%.</a:t>
            </a:r>
          </a:p>
          <a:p>
            <a:r>
              <a:rPr lang="en-US" b="1" dirty="0"/>
              <a:t>Color Jitter (p=0.8)</a:t>
            </a:r>
            <a:endParaRPr lang="en-US" dirty="0"/>
          </a:p>
          <a:p>
            <a:r>
              <a:rPr lang="en-US" dirty="0"/>
              <a:t>Randomly shifts Brightness, Contrast, and Saturation by up to ±80%, and Hue by ±20%.</a:t>
            </a:r>
          </a:p>
          <a:p>
            <a:r>
              <a:rPr lang="en-IN" b="1" dirty="0"/>
              <a:t>Random Grayscale (p=0.2)</a:t>
            </a:r>
          </a:p>
          <a:p>
            <a:r>
              <a:rPr lang="en-IN" b="1" dirty="0"/>
              <a:t>Gaussian Blur (p=1.0)</a:t>
            </a:r>
            <a:endParaRPr lang="en-IN" dirty="0"/>
          </a:p>
          <a:p>
            <a:r>
              <a:rPr lang="en-IN" dirty="0"/>
              <a:t>Applied via a 9×9 kernel.</a:t>
            </a:r>
          </a:p>
          <a:p>
            <a:r>
              <a:rPr lang="en-US" b="1" dirty="0"/>
              <a:t>Horizontal Flip (p=0.5)</a:t>
            </a:r>
            <a:endParaRPr lang="en-US" dirty="0"/>
          </a:p>
          <a:p>
            <a:r>
              <a:rPr lang="en-US" dirty="0"/>
              <a:t>Mirrors the image left-to-right to ensure spatial invariance.</a:t>
            </a: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2517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AAF53-1946-F2AB-CEAF-4AAE11E0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1:</a:t>
            </a:r>
            <a:br>
              <a:rPr lang="en-IN" dirty="0"/>
            </a:br>
            <a:r>
              <a:rPr lang="en-IN" dirty="0"/>
              <a:t>Cosine Similarity:     0.9947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38A6B5-730F-08F4-FC0A-71BE15E46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778" y="3143041"/>
            <a:ext cx="2898705" cy="28987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F7CE61-0FB2-53AF-F35C-4637FFB24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671" y="3143042"/>
            <a:ext cx="2898704" cy="28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7BAA-A131-135A-32BB-FA0A3DC8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2:</a:t>
            </a:r>
            <a:br>
              <a:rPr lang="en-IN" dirty="0"/>
            </a:br>
            <a:r>
              <a:rPr lang="en-IN" dirty="0"/>
              <a:t>Cosine Similarity:     0.9061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428DAA-2F32-90A1-19EA-32FD0D046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156" y="3030747"/>
            <a:ext cx="3123812" cy="3123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4CD13-F5D3-4E57-F8E2-8C2B15C86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9" y="3030746"/>
            <a:ext cx="3123811" cy="312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1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E132-DB4B-0B0D-EA26-7C39D6BF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3: </a:t>
            </a:r>
            <a:br>
              <a:rPr lang="en-IN" dirty="0"/>
            </a:br>
            <a:r>
              <a:rPr lang="en-IN" dirty="0"/>
              <a:t>Cosine Similarity =   0.4845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383AED-6CAE-AC76-4E69-761F988FD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418" y="2600862"/>
            <a:ext cx="3161071" cy="3161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21231-4BFC-CEC1-18EB-8E123B5A9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709" y="2679520"/>
            <a:ext cx="3003755" cy="300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0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7F46F-21C3-5D5A-CC24-A1C96190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4:</a:t>
            </a:r>
            <a:br>
              <a:rPr lang="en-IN" dirty="0"/>
            </a:br>
            <a:r>
              <a:rPr lang="en-IN" dirty="0"/>
              <a:t>Cosine Similarity:     0.8524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3EED5C-69BF-5166-79EA-FA5E162B3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92" y="2786104"/>
            <a:ext cx="3167281" cy="3167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325D2-2AA3-8EE9-BFDE-8B2ED4ACD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637" y="2786104"/>
            <a:ext cx="3167281" cy="316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4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44C3-C347-A318-1926-DAAB612A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500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ABCCA6-4311-78ED-8976-304B3A4F3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26" y="1366747"/>
            <a:ext cx="10888089" cy="527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9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74C1-8C0A-7AD9-ABFA-5B3979A0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800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01AD7E-691F-1404-8C64-7E372655C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4177"/>
            <a:ext cx="10515599" cy="509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1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5B3B-722D-5E9D-5891-85EE82C9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1030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766E96-EECC-C902-3428-A2153A3E6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4176"/>
            <a:ext cx="10806958" cy="523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79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35EC-547A-9C3B-A7E3-58E186AD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CASIA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E49C09-51AB-1822-2DF6-4831E751F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789" y="873083"/>
            <a:ext cx="5967664" cy="596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2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7B21-2BA2-59C2-5DDD-5A29077A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 data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02EDE6-F60F-26E3-F266-5AD2EB49C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254" y="1049548"/>
            <a:ext cx="5662862" cy="566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50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ACEE-9C66-0889-5FF0-88F82920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0215-CB9C-BFC5-F193-90E8D701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Generalisable augmentations?? Because we cant possibly train over all the transformations</a:t>
            </a:r>
          </a:p>
          <a:p>
            <a:r>
              <a:rPr lang="en-IN" dirty="0"/>
              <a:t>Find the smaller set among the good and bad </a:t>
            </a:r>
            <a:r>
              <a:rPr lang="en-IN" dirty="0" err="1"/>
              <a:t>tranformations</a:t>
            </a:r>
            <a:endParaRPr lang="en-IN" dirty="0"/>
          </a:p>
          <a:p>
            <a:r>
              <a:rPr lang="en-IN" dirty="0"/>
              <a:t>Do on a smaller subset of </a:t>
            </a:r>
            <a:r>
              <a:rPr lang="en-IN" dirty="0" err="1"/>
              <a:t>trasnforms</a:t>
            </a:r>
            <a:endParaRPr lang="en-IN" dirty="0"/>
          </a:p>
          <a:p>
            <a:r>
              <a:rPr lang="en-IN" dirty="0"/>
              <a:t>Blurring, reject selective ones,</a:t>
            </a:r>
          </a:p>
          <a:p>
            <a:r>
              <a:rPr lang="en-IN" dirty="0"/>
              <a:t>Think of cropping images with watermarks on bottom right or left</a:t>
            </a:r>
          </a:p>
          <a:p>
            <a:r>
              <a:rPr lang="en-IN" dirty="0"/>
              <a:t>Firstly write down what we want to allow (or don’t)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706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238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SimCLR Results</vt:lpstr>
      <vt:lpstr>SimCLR Augmentation Pipeline</vt:lpstr>
      <vt:lpstr>Image 1: Cosine Similarity:     0.9947</vt:lpstr>
      <vt:lpstr>Image 2: Cosine Similarity:     0.9061</vt:lpstr>
      <vt:lpstr>Image 3:  Cosine Similarity =   0.4845</vt:lpstr>
      <vt:lpstr>Image 4: Cosine Similarity:     0.8524</vt:lpstr>
      <vt:lpstr>Epoch 500</vt:lpstr>
      <vt:lpstr>Epoch 800</vt:lpstr>
      <vt:lpstr>Epoch 1030 </vt:lpstr>
      <vt:lpstr>CASIA</vt:lpstr>
      <vt:lpstr>Train data </vt:lpstr>
      <vt:lpstr>meeting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Yadav</dc:creator>
  <cp:lastModifiedBy>Tushar Yadav</cp:lastModifiedBy>
  <cp:revision>2</cp:revision>
  <dcterms:created xsi:type="dcterms:W3CDTF">2026-03-13T09:57:31Z</dcterms:created>
  <dcterms:modified xsi:type="dcterms:W3CDTF">2026-03-13T15:36:12Z</dcterms:modified>
</cp:coreProperties>
</file>